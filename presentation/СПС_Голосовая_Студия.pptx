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public/metro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7450" y="748010"/>
            <a:ext cx="888950" cy="8889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1865561"/>
            <a:ext cx="859536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СПС Голосовая Студия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3429000" y="2738586"/>
            <a:ext cx="2286000" cy="2530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287796" y="2916287"/>
            <a:ext cx="45682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Профессиональная система синтеза речи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414339" y="3309938"/>
            <a:ext cx="23151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Служба пассажирских сервисов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257525" y="3532138"/>
            <a:ext cx="26288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ГУП «Петербургский метрополитен»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001581" y="4008239"/>
            <a:ext cx="31408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1400"/>
              </a:spcAft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Объединяем город, сближаем людей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0066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108966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проекте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987326"/>
            <a:ext cx="46059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СПС Голосовая Студия — веб-приложение для профессионального синтеза речи с российскими голосами и стандартом АИ-22.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863626"/>
            <a:ext cx="4515594" cy="606326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1863626"/>
            <a:ext cx="0" cy="606326"/>
          </a:xfrm>
          <a:prstGeom prst="line">
            <a:avLst/>
          </a:prstGeom>
          <a:noFill/>
          <a:ln w="38100">
            <a:solidFill>
              <a:srgbClr val="0066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600" y="1990576"/>
            <a:ext cx="41784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голосов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2200126"/>
            <a:ext cx="41784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Мужские и женские с эмоциями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1000" y="2571452"/>
            <a:ext cx="4515594" cy="606326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2571452"/>
            <a:ext cx="0" cy="606326"/>
          </a:xfrm>
          <a:prstGeom prst="line">
            <a:avLst/>
          </a:prstGeom>
          <a:noFill/>
          <a:ln w="38100">
            <a:solidFill>
              <a:srgbClr val="0066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9600" y="2698403"/>
            <a:ext cx="41784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 АИ-22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9600" y="2907953"/>
            <a:ext cx="41784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Профессиональное качество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1000" y="3279279"/>
            <a:ext cx="4515594" cy="606326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00050" y="3279279"/>
            <a:ext cx="0" cy="606326"/>
          </a:xfrm>
          <a:prstGeom prst="line">
            <a:avLst/>
          </a:prstGeom>
          <a:noFill/>
          <a:ln w="38100">
            <a:solidFill>
              <a:srgbClr val="0066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9600" y="3406229"/>
            <a:ext cx="41784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9600" y="3615779"/>
            <a:ext cx="41784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Автоотправка анонсов</a:t>
            </a:r>
            <a:endParaRPr lang="en-US" sz="1000" dirty="0"/>
          </a:p>
        </p:txBody>
      </p:sp>
      <p:pic>
        <p:nvPicPr>
          <p:cNvPr id="17" name="Image 0" descr="/home/z/my-project/presentation/slides/speaker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4673" y="2176463"/>
            <a:ext cx="1524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0066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10896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Возможности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3901" y="781050"/>
            <a:ext cx="2742902" cy="1058168"/>
          </a:xfrm>
          <a:prstGeom prst="roundRect">
            <a:avLst>
              <a:gd name="adj" fmla="val 480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53901" y="790575"/>
            <a:ext cx="2742902" cy="0"/>
          </a:xfrm>
          <a:prstGeom prst="line">
            <a:avLst/>
          </a:prstGeom>
          <a:noFill/>
          <a:ln w="19050">
            <a:solidFill>
              <a:srgbClr val="0066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5402" y="1130201"/>
            <a:ext cx="25906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4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55402" y="1447651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Синтез речи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55402" y="1615827"/>
            <a:ext cx="2590699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Генерация аудио из текста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123754" y="781050"/>
            <a:ext cx="2742902" cy="1058168"/>
          </a:xfrm>
          <a:prstGeom prst="roundRect">
            <a:avLst>
              <a:gd name="adj" fmla="val 480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123754" y="790575"/>
            <a:ext cx="2742902" cy="0"/>
          </a:xfrm>
          <a:prstGeom prst="line">
            <a:avLst/>
          </a:prstGeom>
          <a:noFill/>
          <a:ln w="19050">
            <a:solidFill>
              <a:srgbClr val="0066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25254" y="1130201"/>
            <a:ext cx="25906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4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🎭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25254" y="1447651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Эмоции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25254" y="1615827"/>
            <a:ext cx="2590699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Разные стили произношения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993606" y="781050"/>
            <a:ext cx="2742902" cy="1058168"/>
          </a:xfrm>
          <a:prstGeom prst="roundRect">
            <a:avLst>
              <a:gd name="adj" fmla="val 480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993606" y="790575"/>
            <a:ext cx="2742902" cy="0"/>
          </a:xfrm>
          <a:prstGeom prst="line">
            <a:avLst/>
          </a:prstGeom>
          <a:noFill/>
          <a:ln w="19050">
            <a:solidFill>
              <a:srgbClr val="0066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95107" y="1130201"/>
            <a:ext cx="25906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4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095107" y="1447651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95107" y="1615827"/>
            <a:ext cx="2590699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Сохранение генераций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53901" y="1966168"/>
            <a:ext cx="2742902" cy="1058168"/>
          </a:xfrm>
          <a:prstGeom prst="roundRect">
            <a:avLst>
              <a:gd name="adj" fmla="val 480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253901" y="1975693"/>
            <a:ext cx="2742902" cy="0"/>
          </a:xfrm>
          <a:prstGeom prst="line">
            <a:avLst/>
          </a:prstGeom>
          <a:noFill/>
          <a:ln w="19050">
            <a:solidFill>
              <a:srgbClr val="0066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5402" y="2315319"/>
            <a:ext cx="25906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4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55402" y="2632770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55402" y="2800945"/>
            <a:ext cx="2590699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Установка как приложение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123754" y="1966168"/>
            <a:ext cx="2742902" cy="1058168"/>
          </a:xfrm>
          <a:prstGeom prst="roundRect">
            <a:avLst>
              <a:gd name="adj" fmla="val 480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123754" y="1975693"/>
            <a:ext cx="2742902" cy="0"/>
          </a:xfrm>
          <a:prstGeom prst="line">
            <a:avLst/>
          </a:prstGeom>
          <a:noFill/>
          <a:ln w="19050">
            <a:solidFill>
              <a:srgbClr val="0066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25254" y="2315319"/>
            <a:ext cx="25906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4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225254" y="2632770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25254" y="2800945"/>
            <a:ext cx="2590699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паролем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993606" y="1966168"/>
            <a:ext cx="2742902" cy="1058168"/>
          </a:xfrm>
          <a:prstGeom prst="roundRect">
            <a:avLst>
              <a:gd name="adj" fmla="val 480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5993606" y="1975693"/>
            <a:ext cx="2742902" cy="0"/>
          </a:xfrm>
          <a:prstGeom prst="line">
            <a:avLst/>
          </a:prstGeom>
          <a:noFill/>
          <a:ln w="19050">
            <a:solidFill>
              <a:srgbClr val="0066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95107" y="2315319"/>
            <a:ext cx="25906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4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095107" y="2632770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95107" y="2800945"/>
            <a:ext cx="2590699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Интеграция для анонсов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0066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10896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Доступные голоса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17450" y="1041350"/>
            <a:ext cx="4127599" cy="0"/>
          </a:xfrm>
          <a:prstGeom prst="line">
            <a:avLst/>
          </a:prstGeom>
          <a:noFill/>
          <a:ln w="19050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7450" y="781050"/>
            <a:ext cx="4210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Мужские голоса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7450" y="1177826"/>
            <a:ext cx="4127599" cy="691753"/>
          </a:xfrm>
          <a:prstGeom prst="roundRect">
            <a:avLst>
              <a:gd name="adj" fmla="val 7344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18951" y="1418927"/>
            <a:ext cx="2234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9527" y="1452265"/>
            <a:ext cx="25840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Дмитрий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72879" y="1457027"/>
            <a:ext cx="10920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Профессиональный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17450" y="1945779"/>
            <a:ext cx="4127599" cy="691753"/>
          </a:xfrm>
          <a:prstGeom prst="roundRect">
            <a:avLst>
              <a:gd name="adj" fmla="val 7344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18951" y="2186880"/>
            <a:ext cx="2234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🎙️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9527" y="2220218"/>
            <a:ext cx="30146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Дмитрий Pro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95105" y="2224980"/>
            <a:ext cx="6614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эмоциями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7450" y="2713732"/>
            <a:ext cx="4127599" cy="691753"/>
          </a:xfrm>
          <a:prstGeom prst="roundRect">
            <a:avLst>
              <a:gd name="adj" fmla="val 7344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18951" y="2954834"/>
            <a:ext cx="2234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9527" y="2988171"/>
            <a:ext cx="29289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Олег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11017" y="2992934"/>
            <a:ext cx="7471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характером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17450" y="3481685"/>
            <a:ext cx="4127599" cy="691753"/>
          </a:xfrm>
          <a:prstGeom prst="roundRect">
            <a:avLst>
              <a:gd name="adj" fmla="val 7344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18951" y="3722787"/>
            <a:ext cx="2234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🎩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9527" y="3756124"/>
            <a:ext cx="30682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Филипп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47641" y="3760887"/>
            <a:ext cx="6078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Спокойный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98950" y="1041350"/>
            <a:ext cx="4127599" cy="0"/>
          </a:xfrm>
          <a:prstGeom prst="line">
            <a:avLst/>
          </a:prstGeom>
          <a:noFill/>
          <a:ln w="19050">
            <a:solidFill>
              <a:srgbClr val="0066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98950" y="781050"/>
            <a:ext cx="4210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Женские голоса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98950" y="1177826"/>
            <a:ext cx="4127599" cy="691753"/>
          </a:xfrm>
          <a:prstGeom prst="roundRect">
            <a:avLst>
              <a:gd name="adj" fmla="val 7344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00451" y="1418927"/>
            <a:ext cx="2234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👩‍💼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21027" y="1452265"/>
            <a:ext cx="25840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Светлана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654379" y="1457027"/>
            <a:ext cx="10920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Профессиональный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98950" y="1945779"/>
            <a:ext cx="4127599" cy="691753"/>
          </a:xfrm>
          <a:prstGeom prst="roundRect">
            <a:avLst>
              <a:gd name="adj" fmla="val 7344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00451" y="2186880"/>
            <a:ext cx="2234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🎤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21027" y="2220218"/>
            <a:ext cx="30146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Светлана Pro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76605" y="2224980"/>
            <a:ext cx="6614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эмоциями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698950" y="2713732"/>
            <a:ext cx="4127599" cy="691753"/>
          </a:xfrm>
          <a:prstGeom prst="roundRect">
            <a:avLst>
              <a:gd name="adj" fmla="val 7344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00451" y="2954834"/>
            <a:ext cx="2234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👩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121027" y="2988171"/>
            <a:ext cx="32920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Алёна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348514" y="2992934"/>
            <a:ext cx="384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Мягкий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98950" y="3481685"/>
            <a:ext cx="4127599" cy="691753"/>
          </a:xfrm>
          <a:prstGeom prst="roundRect">
            <a:avLst>
              <a:gd name="adj" fmla="val 7344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800451" y="3722787"/>
            <a:ext cx="2234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121027" y="3756124"/>
            <a:ext cx="31274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Айдар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187184" y="3760887"/>
            <a:ext cx="5486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Silero TTS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0066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108966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 АИ-22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962025"/>
            <a:ext cx="493547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 аудио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1000" y="1458813"/>
            <a:ext cx="48387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1000" y="1260425"/>
            <a:ext cx="15544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05000" y="1260425"/>
            <a:ext cx="2662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1000" y="1712714"/>
            <a:ext cx="48387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1000" y="1514326"/>
            <a:ext cx="15544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Частота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05000" y="1514326"/>
            <a:ext cx="5490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44100 Гц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1000" y="1966615"/>
            <a:ext cx="48387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1000" y="1768227"/>
            <a:ext cx="15544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Битрейт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05000" y="1768227"/>
            <a:ext cx="9644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CBR 128 кбит/с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1000" y="2220516"/>
            <a:ext cx="48387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1000" y="2022128"/>
            <a:ext cx="15544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Кодек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05000" y="2022128"/>
            <a:ext cx="366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1000" y="2474416"/>
            <a:ext cx="48387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1000" y="2276029"/>
            <a:ext cx="15544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Каналы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05000" y="2276029"/>
            <a:ext cx="3442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Моно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1000" y="2631579"/>
            <a:ext cx="493547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Нормализация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81000" y="3128367"/>
            <a:ext cx="48387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1000" y="2929979"/>
            <a:ext cx="15544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LUFS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05000" y="2929979"/>
            <a:ext cx="6828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-23 ±0.5 LU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1000" y="3382268"/>
            <a:ext cx="48387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1000" y="3183880"/>
            <a:ext cx="15544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Peak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905000" y="3183880"/>
            <a:ext cx="5962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-1 dBTP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81000" y="3636169"/>
            <a:ext cx="48387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1000" y="3437781"/>
            <a:ext cx="15544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905000" y="3437781"/>
            <a:ext cx="3877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5 LU</a:t>
            </a:r>
            <a:endParaRPr lang="en-US" sz="1000" dirty="0"/>
          </a:p>
        </p:txBody>
      </p:sp>
      <p:pic>
        <p:nvPicPr>
          <p:cNvPr id="30" name="Image 0" descr="/home/z/my-project/presentation/slides/standard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2050" y="1425178"/>
            <a:ext cx="1015901" cy="1015901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6018163" y="2593479"/>
            <a:ext cx="2263825" cy="736550"/>
          </a:xfrm>
          <a:prstGeom prst="roundRect">
            <a:avLst>
              <a:gd name="adj" fmla="val 10346"/>
            </a:avLst>
          </a:prstGeom>
          <a:solidFill>
            <a:srgbClr val="0066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6254503" y="2745879"/>
            <a:ext cx="17911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Профессиональный стандарт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254503" y="2939504"/>
            <a:ext cx="179114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АИ-22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0066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10896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интеграция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819150"/>
            <a:ext cx="4605906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Aft>
                <a:spcPts val="12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Автоматическая отправка аудиосообщений в Telegram-каналы.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81000" y="1153120"/>
            <a:ext cx="4515594" cy="638175"/>
          </a:xfrm>
          <a:prstGeom prst="roundRect">
            <a:avLst>
              <a:gd name="adj" fmla="val 7960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1153120"/>
            <a:ext cx="0" cy="638175"/>
          </a:xfrm>
          <a:prstGeom prst="line">
            <a:avLst/>
          </a:prstGeom>
          <a:noFill/>
          <a:ln w="38100">
            <a:solidFill>
              <a:srgbClr val="0066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6050" y="1381720"/>
            <a:ext cx="1263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1376" y="1400770"/>
            <a:ext cx="15136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Настройка бота и канала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1000" y="1867495"/>
            <a:ext cx="4515594" cy="638175"/>
          </a:xfrm>
          <a:prstGeom prst="roundRect">
            <a:avLst>
              <a:gd name="adj" fmla="val 7960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1867495"/>
            <a:ext cx="0" cy="638175"/>
          </a:xfrm>
          <a:prstGeom prst="line">
            <a:avLst/>
          </a:prstGeom>
          <a:noFill/>
          <a:ln w="38100">
            <a:solidFill>
              <a:srgbClr val="0066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6050" y="2096095"/>
            <a:ext cx="1263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1376" y="2115145"/>
            <a:ext cx="13551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Автоотправка анонсов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1000" y="2581870"/>
            <a:ext cx="4515594" cy="638175"/>
          </a:xfrm>
          <a:prstGeom prst="roundRect">
            <a:avLst>
              <a:gd name="adj" fmla="val 7960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00050" y="2581870"/>
            <a:ext cx="0" cy="638175"/>
          </a:xfrm>
          <a:prstGeom prst="line">
            <a:avLst/>
          </a:prstGeom>
          <a:noFill/>
          <a:ln w="38100">
            <a:solidFill>
              <a:srgbClr val="0066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6050" y="2810470"/>
            <a:ext cx="1263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1376" y="2829520"/>
            <a:ext cx="16762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Отправка с текстом или без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1000" y="3296245"/>
            <a:ext cx="4515594" cy="638175"/>
          </a:xfrm>
          <a:prstGeom prst="roundRect">
            <a:avLst>
              <a:gd name="adj" fmla="val 7960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00050" y="3296245"/>
            <a:ext cx="0" cy="638175"/>
          </a:xfrm>
          <a:prstGeom prst="line">
            <a:avLst/>
          </a:prstGeom>
          <a:noFill/>
          <a:ln w="38100">
            <a:solidFill>
              <a:srgbClr val="0066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6050" y="3524845"/>
            <a:ext cx="1263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1376" y="3543895"/>
            <a:ext cx="13788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всех отправок</a:t>
            </a:r>
            <a:endParaRPr lang="en-US" sz="1000" dirty="0"/>
          </a:p>
        </p:txBody>
      </p:sp>
      <p:pic>
        <p:nvPicPr>
          <p:cNvPr id="21" name="Image 0" descr="/home/z/my-project/presentation/slides/telegram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1772" y="1779836"/>
            <a:ext cx="1269950" cy="12699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0066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10896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Инструкция по использованию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17450" y="819150"/>
            <a:ext cx="421015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аудио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17450" y="1117550"/>
            <a:ext cx="4127599" cy="456902"/>
          </a:xfrm>
          <a:prstGeom prst="roundRect">
            <a:avLst>
              <a:gd name="adj" fmla="val 11118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36500" y="1117550"/>
            <a:ext cx="0" cy="456902"/>
          </a:xfrm>
          <a:prstGeom prst="line">
            <a:avLst/>
          </a:prstGeom>
          <a:noFill/>
          <a:ln w="38100">
            <a:solidFill>
              <a:srgbClr val="0066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2501" y="1219051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066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74030" y="1274564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3352" y="1219051"/>
            <a:ext cx="2733699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Выберите голос из списка (мужской/женский)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7450" y="1675954"/>
            <a:ext cx="4127599" cy="456902"/>
          </a:xfrm>
          <a:prstGeom prst="roundRect">
            <a:avLst>
              <a:gd name="adj" fmla="val 11118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36500" y="1675954"/>
            <a:ext cx="0" cy="456902"/>
          </a:xfrm>
          <a:prstGeom prst="line">
            <a:avLst/>
          </a:prstGeom>
          <a:noFill/>
          <a:ln w="38100">
            <a:solidFill>
              <a:srgbClr val="0066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501" y="1777454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066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74030" y="1832967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3352" y="1777454"/>
            <a:ext cx="2943341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Выберите эмоцию (нейтральный, весёлый и др.)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7450" y="2234357"/>
            <a:ext cx="4127599" cy="456902"/>
          </a:xfrm>
          <a:prstGeom prst="roundRect">
            <a:avLst>
              <a:gd name="adj" fmla="val 11118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36500" y="2234357"/>
            <a:ext cx="0" cy="456902"/>
          </a:xfrm>
          <a:prstGeom prst="line">
            <a:avLst/>
          </a:prstGeom>
          <a:noFill/>
          <a:ln w="38100">
            <a:solidFill>
              <a:srgbClr val="0066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501" y="2335857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066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74030" y="2391370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3352" y="2335857"/>
            <a:ext cx="2058927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Введите текст (до 5000 символов)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17450" y="2792760"/>
            <a:ext cx="4127599" cy="456902"/>
          </a:xfrm>
          <a:prstGeom prst="roundRect">
            <a:avLst>
              <a:gd name="adj" fmla="val 11118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36500" y="2792760"/>
            <a:ext cx="0" cy="456902"/>
          </a:xfrm>
          <a:prstGeom prst="line">
            <a:avLst/>
          </a:prstGeom>
          <a:noFill/>
          <a:ln w="38100">
            <a:solidFill>
              <a:srgbClr val="0066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501" y="2894261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066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74030" y="2949773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3352" y="2894261"/>
            <a:ext cx="1948413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Настройте скорость и громкость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17450" y="3351163"/>
            <a:ext cx="4127599" cy="456902"/>
          </a:xfrm>
          <a:prstGeom prst="roundRect">
            <a:avLst>
              <a:gd name="adj" fmla="val 11118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336500" y="3351163"/>
            <a:ext cx="0" cy="456902"/>
          </a:xfrm>
          <a:prstGeom prst="line">
            <a:avLst/>
          </a:prstGeom>
          <a:noFill/>
          <a:ln w="38100">
            <a:solidFill>
              <a:srgbClr val="0066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501" y="3452664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066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74030" y="3508177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63352" y="3452664"/>
            <a:ext cx="1628561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Нажмите «Сгенерировать»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98950" y="819150"/>
            <a:ext cx="421015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Дополнительные функции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98950" y="1117550"/>
            <a:ext cx="4127599" cy="456902"/>
          </a:xfrm>
          <a:prstGeom prst="roundRect">
            <a:avLst>
              <a:gd name="adj" fmla="val 11118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718000" y="1117550"/>
            <a:ext cx="0" cy="456902"/>
          </a:xfrm>
          <a:prstGeom prst="line">
            <a:avLst/>
          </a:prstGeom>
          <a:noFill/>
          <a:ln w="38100">
            <a:solidFill>
              <a:srgbClr val="0066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001" y="1219051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066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955530" y="1274564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44852" y="1219051"/>
            <a:ext cx="2763756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Прослушайте результат встроенным плеером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98950" y="1675954"/>
            <a:ext cx="4127599" cy="456902"/>
          </a:xfrm>
          <a:prstGeom prst="roundRect">
            <a:avLst>
              <a:gd name="adj" fmla="val 11118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4718000" y="1675954"/>
            <a:ext cx="0" cy="456902"/>
          </a:xfrm>
          <a:prstGeom prst="line">
            <a:avLst/>
          </a:prstGeom>
          <a:noFill/>
          <a:ln w="38100">
            <a:solidFill>
              <a:srgbClr val="0066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64001" y="1777454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066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955530" y="1832967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244852" y="1777454"/>
            <a:ext cx="2111148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Скачайте MP3 файл на устройство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698950" y="2234357"/>
            <a:ext cx="4127599" cy="456902"/>
          </a:xfrm>
          <a:prstGeom prst="roundRect">
            <a:avLst>
              <a:gd name="adj" fmla="val 11118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4718000" y="2234357"/>
            <a:ext cx="0" cy="456902"/>
          </a:xfrm>
          <a:prstGeom prst="line">
            <a:avLst/>
          </a:prstGeom>
          <a:noFill/>
          <a:ln w="38100">
            <a:solidFill>
              <a:srgbClr val="0066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64001" y="2335857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066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955530" y="2391370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244852" y="2335857"/>
            <a:ext cx="2301511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Отправьте в Telegram (если настроен)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698950" y="2792760"/>
            <a:ext cx="4127599" cy="456902"/>
          </a:xfrm>
          <a:prstGeom prst="roundRect">
            <a:avLst>
              <a:gd name="adj" fmla="val 11118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4718000" y="2792760"/>
            <a:ext cx="0" cy="456902"/>
          </a:xfrm>
          <a:prstGeom prst="line">
            <a:avLst/>
          </a:prstGeom>
          <a:noFill/>
          <a:ln w="38100">
            <a:solidFill>
              <a:srgbClr val="0066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64001" y="2894261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066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4955530" y="2949773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244852" y="2894261"/>
            <a:ext cx="2871386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генераций сохраняется автоматически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698950" y="3351163"/>
            <a:ext cx="4127599" cy="456902"/>
          </a:xfrm>
          <a:prstGeom prst="roundRect">
            <a:avLst>
              <a:gd name="adj" fmla="val 11118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4718000" y="3351163"/>
            <a:ext cx="0" cy="456902"/>
          </a:xfrm>
          <a:prstGeom prst="line">
            <a:avLst/>
          </a:prstGeom>
          <a:noFill/>
          <a:ln w="38100">
            <a:solidFill>
              <a:srgbClr val="0066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64001" y="3452664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066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4920258" y="3508177"/>
            <a:ext cx="1440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244852" y="3452664"/>
            <a:ext cx="2362688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Установите PWA для быстрого доступа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public/metro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774948"/>
            <a:ext cx="762000" cy="762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1765548"/>
            <a:ext cx="859536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СПС Голосовая Студия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3810000" y="2549723"/>
            <a:ext cx="1524000" cy="2530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493580" y="2765524"/>
            <a:ext cx="2156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за внимание!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414339" y="3257550"/>
            <a:ext cx="23151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Служба пассажирских сервисов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257525" y="3492401"/>
            <a:ext cx="26288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ГУП «Петербургский метрополитен»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001581" y="3981152"/>
            <a:ext cx="31408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1400"/>
              </a:spcAft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Объединяем город, сближаем людей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ГУП Петербургский метрополитен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СПС Голосовая Студия</dc:title>
  <dc:subject>Презентация системы синтеза речи</dc:subject>
  <dc:creator>ГУП Петербургский метрополитен</dc:creator>
  <cp:lastModifiedBy>ГУП Петербургский метрополитен</cp:lastModifiedBy>
  <cp:revision>1</cp:revision>
  <dcterms:created xsi:type="dcterms:W3CDTF">2026-03-23T08:53:29Z</dcterms:created>
  <dcterms:modified xsi:type="dcterms:W3CDTF">2026-03-23T08:53:29Z</dcterms:modified>
</cp:coreProperties>
</file>